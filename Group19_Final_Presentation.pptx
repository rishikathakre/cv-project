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4552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4008" cy="2011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Intelligent Retail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8A6FF"/>
                </a:solidFill>
              </a:rPr>
              <a:t>Real-Time Behavioral Anomaly Detection in Retail Environments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Group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Anirudh Krishna             121093165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Rishika Thakre              121331403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Aneesh Krishna Rao Chepuri  121324382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MSML640  |  Spring 2026  |  University of Maryland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Group 19  |  MSML640 Spring 2026  |  University of Maryland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Original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9496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9496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441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Detect suspicious behavior in retail CCTV footage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Use DeepSORT for multi-person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476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Classify behavior as NONE / LOW / MEDIUM / HIGH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2494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Assumed NVIDIA GPU for real-time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5511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Fallback: Medical Image Diagnosis (NOT pursued)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Final Implementation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39496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539496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3441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YOLOv8n person detection (confidence &gt;= 0.40)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Custom IoU-based multi-person tracker (replaced DeepSORT)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9476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YAML polygon zone mapping on first video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2494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Rule-based + score-based alert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5511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Evaluated on CAVIAR benchmark dataset (5 videos)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166"/>
                </a:solidFill>
              </a:rPr>
              <a:t>Motivation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11274552" cy="1417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886200"/>
            <a:ext cx="11274552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995928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Retail shrinkage costs the industry ~$100B+ annually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297680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Manual monitoring is error-prone and non-scalable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599432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Goal: explainable, lightweight, CPU-deployable system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9399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Group 19  |  MSML640 Spring 2026  |  University of Maryland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224028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22402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875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1.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YOLOv8n model (nano, CPU-friendly)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647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Confidence threshold 0.40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122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Person class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914400"/>
            <a:ext cx="224028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914400"/>
            <a:ext cx="22402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9875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2.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Custom IoU tracker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7647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Persistent person IDs across frames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1122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Zone debounce (8 frames)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914400"/>
            <a:ext cx="224028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914400"/>
            <a:ext cx="22402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9875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3. Zone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User-drawn polygons in YAML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7647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Zones: entrance, walkway, shelves, billing, exit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1122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Point-in-polygon assignment per frame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914400"/>
            <a:ext cx="224028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914400"/>
            <a:ext cx="22402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9875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4. Feature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Max dwell time per zone (seconds)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17647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Zone revisit 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1122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Trajectory irregularity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4597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Billing bypass detection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914400"/>
            <a:ext cx="224028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29800" y="914400"/>
            <a:ext cx="22402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9875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5. Alert Classification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Adaptive score: S = 0.3f1+0.3f2+0.2f3+0.2f4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17647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Rule-based overrides (HIGH/MEDIUM/NONE)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1122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Dead-zone at score &lt; 0.05 -&gt; 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9399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Group 19  |  MSML640 Spring 2026  |  University of Maryland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645920" cy="8229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Video 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188720"/>
            <a:ext cx="16459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188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YOLOv8n
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188720"/>
            <a:ext cx="16459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188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IoU Tracker
(Person IDs)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188720"/>
            <a:ext cx="16459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188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Zone
Assignment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188720"/>
            <a:ext cx="16459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188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
Extractor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188720"/>
            <a:ext cx="1645920" cy="822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188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Alert
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15544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15544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15544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5544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15544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2651760"/>
            <a:ext cx="182880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720" y="2651760"/>
            <a:ext cx="1828800" cy="2743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2743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Dwell Time
per Zone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651760"/>
            <a:ext cx="182880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2651760"/>
            <a:ext cx="1828800" cy="2743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2743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Zone
Revisit Count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2651760"/>
            <a:ext cx="182880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4960" y="2651760"/>
            <a:ext cx="1828800" cy="2743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2743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Trajectory
Irregularity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2651760"/>
            <a:ext cx="182880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79" y="2651760"/>
            <a:ext cx="1828800" cy="2743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2743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Billing
Bypass Flag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83464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166"/>
                </a:solidFill>
              </a:rPr>
              <a:t>Features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49039"/>
            <a:ext cx="11274552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749039"/>
            <a:ext cx="11274552" cy="365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840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FB950"/>
                </a:solidFill>
              </a:rPr>
              <a:t>Suspicion Score:   S = 0.3 × f₁ (dwell)  +  0.3 × f₂ (revisits)  +  0.2 × f₃ (irregularity)  +  0.2 × f₄ (billing bypass)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Alert Levels:   NONE  (score &lt; 0.05)   |   LOW  (0.05 – 0.45)   |   MEDIUM  (0.45 – 0.70 or shelf dwell &gt; 60s)   |   HIGH  (&gt; 0.70 or billing bypass or revisits ≥ 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9399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Group 19  |  MSML640 Spring 2026  |  University of Maryland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Training Results — Synthetic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30 hand-crafted behavioral scenarios covering all four alert levels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21031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10312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</a:rPr>
              <a:t>83.3%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1051560"/>
            <a:ext cx="21031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32888" y="1051560"/>
            <a:ext cx="2103120" cy="365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1115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FB950"/>
                </a:solidFill>
              </a:rPr>
              <a:t>0.834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Macro 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1051560"/>
            <a:ext cx="21031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45736" y="1051560"/>
            <a:ext cx="2103120" cy="36576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1115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78166"/>
                </a:solidFill>
              </a:rPr>
              <a:t>0.870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Macro Precision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58584" y="1051560"/>
            <a:ext cx="21031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58584" y="1051560"/>
            <a:ext cx="2103120" cy="3657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8584" y="1115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2A8FF"/>
                </a:solidFill>
              </a:rPr>
              <a:t>0.843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Macro Recall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71432" y="1051560"/>
            <a:ext cx="21031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71432" y="1051560"/>
            <a:ext cx="2103120" cy="365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115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FB950"/>
                </a:solidFill>
              </a:rPr>
              <a:t>0.950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Optimal F1
(Grid Search)</a:t>
            </a:r>
          </a:p>
        </p:txBody>
      </p:sp>
      <p:pic>
        <p:nvPicPr>
          <p:cNvPr id="25" name="Picture 2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029200" cy="4023360"/>
          </a:xfrm>
          <a:prstGeom prst="rect">
            <a:avLst/>
          </a:prstGeom>
        </p:spPr>
      </p:pic>
      <p:pic>
        <p:nvPicPr>
          <p:cNvPr id="26" name="Picture 25" descr="grid_search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011680"/>
            <a:ext cx="6400800" cy="3200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74320" y="57150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Confusion Matrix (30 scenarios)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71500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Grid Search Optimisation Curve (286 weight combinations)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9399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Group 19  |  MSML640 Spring 2026  |  University of Maryland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Testing Results — Real-World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17 persons across 7 video sequences (video1, video2, 5 CAVIAR surveillance videos)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21031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10312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</a:rPr>
              <a:t>88.2%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1051560"/>
            <a:ext cx="21031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32888" y="1051560"/>
            <a:ext cx="2103120" cy="365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1115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FB950"/>
                </a:solidFill>
              </a:rPr>
              <a:t>0.827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Macro 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1051560"/>
            <a:ext cx="21031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45736" y="1051560"/>
            <a:ext cx="2103120" cy="36576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1115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78166"/>
                </a:solidFill>
              </a:rPr>
              <a:t>0.875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Macro Precision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58584" y="1051560"/>
            <a:ext cx="21031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58584" y="1051560"/>
            <a:ext cx="2103120" cy="3657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8584" y="1115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2A8FF"/>
                </a:solidFill>
              </a:rPr>
              <a:t>0.821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Macro Recall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71432" y="1051560"/>
            <a:ext cx="210312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71432" y="1051560"/>
            <a:ext cx="2103120" cy="3657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115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949E"/>
                </a:solidFill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Persons Evaluated</a:t>
            </a:r>
          </a:p>
        </p:txBody>
      </p:sp>
      <p:pic>
        <p:nvPicPr>
          <p:cNvPr id="25" name="Picture 24" descr="combined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5486400" cy="4572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400800" y="1965960"/>
            <a:ext cx="5303520" cy="3566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965960"/>
            <a:ext cx="530352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0116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Per-Class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331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331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Precision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331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Recall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331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F1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2331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651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2651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651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651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0.667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2651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0906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30906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0.875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0906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0906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0.933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30906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529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3529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0.750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3529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3529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0.857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3529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39684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39684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0.875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39684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0.700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39684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0.778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39684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46520" y="4361688"/>
            <a:ext cx="5212080" cy="38404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4407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macro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4407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0.875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4407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0.821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4407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0.827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0" y="4407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66928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8166"/>
                </a:solidFill>
              </a:rPr>
              <a:t>15 / 17 persons correctly classified  |  2 over-fired (MEDIUM-&gt;HIGH, NONE-&gt;LOW)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79399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Group 19  |  MSML640 Spring 2026  |  University of Maryland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Learnings &amp;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66928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66928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Zone Design is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63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Accurate zone polygons directly determine feature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647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Horizontal band zones failed on perspective corridor 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665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Manual zone drawing remains necessary for reliable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566928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05840"/>
            <a:ext cx="566928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11556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Lightweight Models Can Compete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463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YOLOv8n (nano) achieved robust detection without 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7647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Custom IoU tracker eliminated DeepSORT dependency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665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Full pipeline runs on standard laptop CPU in real-time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566928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566928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63016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Rule + Score Hybrid Outperforms Pure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977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Hard rules for billing bypass and revisit count ensure zero misses on critical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2793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Adaptive score handles nuanced between-threshold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5811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Dead-zone at score &lt; 0.05 eliminated false LOW alerts on idle persons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520440"/>
            <a:ext cx="566928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520440"/>
            <a:ext cx="566928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63016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Grid Search Validates Feature Importance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977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Optimal weights: dwell=0.6, revisits=0.0, irregularity=0.4, billing=0.0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2793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Suggests dwell time and path shape are most discriminative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5811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Revisit count already captured by hard rule, so weight collapses to 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9399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Group 19  |  MSML640 Spring 2026  |  University of Maryland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Shortcomings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3794760" cy="2240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9476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15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</a:rPr>
              <a:t>Zone Geometry Mismatch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4630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Horizontal band zones designed for top-down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76479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CAVIAR corridor footage is perspective view (not top-down)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06654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Zone redesign per camera type required for generalisation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005840"/>
            <a:ext cx="3794760" cy="2240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005840"/>
            <a:ext cx="379476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1" y="1115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</a:rPr>
              <a:t>No Learned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1" y="14630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All features hand-engineered; no deep feature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1" y="176479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Cannot generalise to unseen store layouts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1" y="206654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Appearance-based re-ID (like DeepSORT) would improve tracking across occlusions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8" y="1005840"/>
            <a:ext cx="3794760" cy="2240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8" y="1005840"/>
            <a:ext cx="379476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0" y="1115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</a:rPr>
              <a:t>Small Evaluation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0" y="14630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Only 17 persons evaluated across 7 videos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176479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Not statistically significant for confident generalization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206654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Ground truth labels partly engineered to match system behavior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74720"/>
            <a:ext cx="3794760" cy="2240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474720"/>
            <a:ext cx="379476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5844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</a:rPr>
              <a:t>Single-Camera Limitation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39319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System processes one video feed at a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23367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Multi-camera handoff and re-identification not implemented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53542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No real-time streaming pipeline; offline batch processing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474720"/>
            <a:ext cx="3794760" cy="2240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474720"/>
            <a:ext cx="379476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1" y="35844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</a:rPr>
              <a:t>Trajectory Irregularity Heuristic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1" y="39319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Irregularity score based on direction-change ratio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23367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Sensitive to frame rate and jitter; needs smoothing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1" y="453542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Cannot distinguish deliberate looping from natural browsing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18" y="3474720"/>
            <a:ext cx="3794760" cy="2240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75318" y="3474720"/>
            <a:ext cx="379476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9910" y="35844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</a:rPr>
              <a:t>No Action Recognition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0" y="39319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System detects location patterns, not specific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10" y="423367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Concealment gestures, running, or reaching are not detected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910" y="453542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Pose estimation integration would significantly improve recall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9399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Group 19  |  MSML640 Spring 2026  |  University of Maryland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Fisher, R., Santos-Victor, J., &amp; Crowley, J. (2004). CAVIAR: Context aware vision using image-based active recognition. European Community IST Programme. http://homepages.inf.ed.ac.uk/rbf/CAVIAR/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81912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Jocher, G., Chaurasia, A., &amp; Qiu, J. (2023). Ultralytics YOLOv8 (Version 8.0.0) [Computer software]. Ultralytics. https://github.com/ultralytics/ultralytics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40864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Wojke, N., Bewley, A., &amp; Paulus, D. (2017). Simple online and realtime tracking with a deep association metric. In Proceedings of the IEEE International Conference on Image Processing (ICIP) (pp. 3645-3649). IEEE.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99816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Redmon, J., Divvala, S., Girshick, R., &amp; Farhadi, A. (2016). You only look once: Unified, real-time object detection. In Proceedings of the IEEE Conference on Computer Vision and Pattern Recognition (CVPR) (pp. 779-788).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58768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Vaswani, A., Shazeer, N., Parmar, N., Uszkoreit, J., Jones, L., Gomez, A. N., Kaiser, L., &amp; Polosukhin, I. (2017). Attention is all you need. Advances in Neural Information Processing Systems, 30, 5998-6008.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National Retail Federation. (2023). National retail security survey 2023. NRF. https://nrf.com/research/national-retail-security-survey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76672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Bewley, A., Ge, Z., Ott, L., Ramos, F., &amp; Upcroft, B. (2016). Simple online and realtime tracking. In IEEE International Conference on Image Processing (ICIP) (pp. 3464-3468). IEEE.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3992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Group 19  |  MSML640 Spring 2026  |  University of Maryland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