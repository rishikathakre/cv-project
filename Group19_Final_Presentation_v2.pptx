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Intelligent Retail Risk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09728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DBEAFE"/>
                </a:solidFill>
              </a:rPr>
              <a:t>Real-Time Behavioral Anomaly Detection in Retail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463040"/>
            <a:ext cx="12188952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943600" cy="3474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64008" cy="3474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D4ED8"/>
                </a:solidFill>
              </a:rPr>
              <a:t>Group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Anirudh Krishna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7121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UID: 121093165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Rishika Thakre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1129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UID: 121331403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587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Aneesh Krishna Rao Chepuri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513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UID: 121324382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828800"/>
            <a:ext cx="4846320" cy="34747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0" y="1828800"/>
            <a:ext cx="4846320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Course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226771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MSML640 — Machine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Semester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04495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Spring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35661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School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3822192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University of Maryland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What we set out to solve and how the final implementation compares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96112"/>
            <a:ext cx="11274552" cy="658368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896112"/>
            <a:ext cx="64008" cy="65836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94183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Retail shrinkage costs the industry $100B+ annually. Manual CCTV monitoring is error-prone and non-scalable. Our goal: a lightweight, explainable, CPU-deployable behavioral anomaly detection system that runs on commodity hardware.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5623560" cy="42062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64208"/>
            <a:ext cx="64008" cy="56235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D4ED8"/>
                </a:solidFill>
              </a:rPr>
              <a:t>Original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Detect suspicious retail behavior from CCTV footage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DeepSORT for multi-object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99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NVIDIA GPU assumed for real-time inference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01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Alert levels: NONE / LOW / MEDIUM /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039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Fallback plan: Medical Image Diagnosis (not pursued)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664208"/>
            <a:ext cx="5623560" cy="420624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664208"/>
            <a:ext cx="64008" cy="5623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7190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A34A"/>
                </a:solidFill>
              </a:rPr>
              <a:t>Final Implementation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YOLOv8n detection (confidence threshold 0.40)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9689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Custom IoU tracker — no GPU dependency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99923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Zone mapping via user-drawn YAML polygons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0156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Rule-based + adaptive score 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0390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•  Evaluated on CAVIAR benchmark (5 surveillance videos)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035040"/>
            <a:ext cx="356616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6035040"/>
            <a:ext cx="64008" cy="3566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60990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580C"/>
                </a:solidFill>
              </a:rPr>
              <a:t>Tracker: DeepSORT  →  Custom IoU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39" y="6035040"/>
            <a:ext cx="356616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06239" y="6035040"/>
            <a:ext cx="64008" cy="35661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60990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Hardware: GPU Required  →  CPU Only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8" y="6035040"/>
            <a:ext cx="356616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55278" y="6035040"/>
            <a:ext cx="64008" cy="35661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38" y="6099048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D4ED8"/>
                </a:solidFill>
              </a:rPr>
              <a:t>Dataset: Generic  →  CAVIAR Benchmark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Five-stage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2212848" cy="5303520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212848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1 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5087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YOLOv8n (nano) — 3.2 M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659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Confidence threshold: 0.40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4231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Person class only (COCO class 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03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~25 FPS on laptop CPU (384×288 input)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184" y="960120"/>
            <a:ext cx="2212848" cy="530352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15184" y="960120"/>
            <a:ext cx="2212848" cy="640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52344" y="105156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2 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2344" y="15087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Custom IoU-based multi-object 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52344" y="19659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Persistent person IDs across frames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24231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8-frame zone debounce eliminates jitter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2344" y="28803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Handles entry / exit / re-entry cleanly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960120"/>
            <a:ext cx="2212848" cy="5303520"/>
          </a:xfrm>
          <a:prstGeom prst="rect">
            <a:avLst/>
          </a:prstGeom>
          <a:solidFill>
            <a:srgbClr val="FFEDD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56048" y="960120"/>
            <a:ext cx="2212848" cy="640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105156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3  Zone Mapping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15087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User draws polygons on first 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19659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Zones: entrance, walkway, shelves, billing, 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8" y="24231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Point-in-polygon assignment per 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28803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Stored as YAML — no retraining needed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6912" y="960120"/>
            <a:ext cx="2212848" cy="5303520"/>
          </a:xfrm>
          <a:prstGeom prst="rect">
            <a:avLst/>
          </a:prstGeom>
          <a:solidFill>
            <a:srgbClr val="EDE9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96912" y="960120"/>
            <a:ext cx="2212848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34072" y="105156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4  Feature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15087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Max dwell time per zone (seconds)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19659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Zone revisit counts (per zone)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24231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Trajectory irregularity (direction entropy)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28803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Billing bypass flag (exit without billing)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37776" y="960120"/>
            <a:ext cx="2212848" cy="5303520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37776" y="960120"/>
            <a:ext cx="2212848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74936" y="1051560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5  Alert Classification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4936" y="15087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Adaptive score: S = 0.3f1+0.3f2+0.2f3+0.2f4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74936" y="19659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Hard rule: billing bypass →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74936" y="24231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Hard rule: revisits ≥ 2 → 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74936" y="2880360"/>
            <a:ext cx="198424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Dead-zone &lt; 0.05 suppresses false LOWs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End-to-end data flow from video input to alert 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51560"/>
            <a:ext cx="1783080" cy="822960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D4ED8"/>
                </a:solidFill>
              </a:rPr>
              <a:t>Video
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552" y="128016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1051560"/>
            <a:ext cx="178308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67712" y="10515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YOLOv8n
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8224" y="128016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4" y="1051560"/>
            <a:ext cx="178308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15384" y="10515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IoU Tracker
(IDs)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25896" y="128016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051560"/>
            <a:ext cx="178308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6" y="10515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Zone
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128016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0728" y="1051560"/>
            <a:ext cx="1783080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10515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Feature
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28016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D4E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0" y="1051560"/>
            <a:ext cx="1783080" cy="82296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1051560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Alert
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2148840"/>
            <a:ext cx="1828800" cy="731520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2148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D4ED8"/>
                </a:solidFill>
              </a:rPr>
              <a:t>Dwell Time
per Zone (s)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148840"/>
            <a:ext cx="1828800" cy="73152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2148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Zone Revisit
Counts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2148840"/>
            <a:ext cx="1828800" cy="731520"/>
          </a:xfrm>
          <a:prstGeom prst="rect">
            <a:avLst/>
          </a:prstGeom>
          <a:solidFill>
            <a:srgbClr val="FFEDD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77840" y="2148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</a:rPr>
              <a:t>Path
Irregularity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2148840"/>
            <a:ext cx="1828800" cy="731520"/>
          </a:xfrm>
          <a:prstGeom prst="rect">
            <a:avLst/>
          </a:prstGeom>
          <a:solidFill>
            <a:srgbClr val="EDE9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21488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Billing
Bypass 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2377440"/>
            <a:ext cx="822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08960"/>
            <a:ext cx="11274552" cy="685800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108960"/>
            <a:ext cx="11274552" cy="6400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321868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F172A"/>
                </a:solidFill>
              </a:rPr>
              <a:t>Suspicion Score:   S  =  0.3 × f₁(dwell)  +  0.3 × f₂(revisits)  +  0.2 × f₃(irregularity)  +  0.2 × f₄(billing bypass)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77639"/>
            <a:ext cx="2743200" cy="7315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NONE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361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score &lt; 0.05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00984" y="3977639"/>
            <a:ext cx="2743200" cy="731520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10712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10712" y="4361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0.05 – 0.45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44768" y="3977639"/>
            <a:ext cx="2743200" cy="731520"/>
          </a:xfrm>
          <a:prstGeom prst="rect">
            <a:avLst/>
          </a:prstGeom>
          <a:solidFill>
            <a:srgbClr val="FFEDD5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6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6" y="4361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0.45 – 0.70  or  dwell &gt; 60 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88552" y="3977639"/>
            <a:ext cx="2743200" cy="73152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40233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36168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&gt; 0.70  or  bypass  or  revisits≥2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919472"/>
            <a:ext cx="11274552" cy="5486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Adaptive Calibration: Thresholds auto-adjust from population distribution (mean + 1.5 × std). Falls back to fixed constants when fewer than 3 persons are tracked.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577840"/>
            <a:ext cx="11274552" cy="502920"/>
          </a:xfrm>
          <a:prstGeom prst="rect">
            <a:avLst/>
          </a:prstGeom>
          <a:solidFill>
            <a:srgbClr val="EDE9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56509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Explainability: SHAP attributions computed analytically for the linear scoring model. Dashboard shows per-person waterfall charts and population-level feature importance.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Training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YOLOv8n detection performance · Hyperparameter optimisation · SHAP explainability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2176272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D4ED8"/>
                </a:solidFill>
              </a:rPr>
              <a:t>3.2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YOLOv8n
Parameters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005840"/>
            <a:ext cx="2176272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0.40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Confidence
Threshold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8032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28032" y="1005840"/>
            <a:ext cx="2176272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A580C"/>
                </a:solidFill>
              </a:rPr>
              <a:t>~25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Detection
FPS (CPU)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5744" y="1005840"/>
            <a:ext cx="217627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286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Grid Search
Combinations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3456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63456" y="1005840"/>
            <a:ext cx="2176272" cy="45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40AF"/>
                </a:solidFill>
              </a:rPr>
              <a:t>0.950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Optimal
Macro F1</a:t>
            </a:r>
          </a:p>
        </p:txBody>
      </p:sp>
      <p:pic>
        <p:nvPicPr>
          <p:cNvPr id="25" name="Picture 24" descr="grid_search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29968"/>
            <a:ext cx="6035040" cy="30175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20040" y="5321808"/>
            <a:ext cx="6035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Grid Search Optimisation Curve
(286 weight combinations, α+β+γ+δ=1, step=0.1)</a:t>
            </a:r>
          </a:p>
        </p:txBody>
      </p:sp>
      <p:pic>
        <p:nvPicPr>
          <p:cNvPr id="27" name="Picture 26" descr="shap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29968"/>
            <a:ext cx="5303520" cy="26109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583680" y="532180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SHAP Feature Importance — Mean |SHAP| per feature across all evaluated persons.
Dwell anomaly and zone revisits are the dominant risk drivers.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870448"/>
            <a:ext cx="11503152" cy="457200"/>
          </a:xfrm>
          <a:prstGeom prst="rect">
            <a:avLst/>
          </a:prstGeom>
          <a:solidFill>
            <a:srgbClr val="DBEAFE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9436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System Weights:   α (dwell) = 0.30   |   β (revisits) = 0.30   |   γ (irregularity) = 0.20   |   δ (billing bypass) = 0.20   →   Grid Search Optimal Macro F1 = 0.950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Model Testing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17 persons evaluated across 7 video sequences (video1, video2, 5 CAVIAR videos)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005840"/>
            <a:ext cx="2176272" cy="457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D4ED8"/>
                </a:solidFill>
              </a:rPr>
              <a:t>88.2%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1005840"/>
            <a:ext cx="2176272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0.827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Macro 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28032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28032" y="1005840"/>
            <a:ext cx="2176272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A580C"/>
                </a:solidFill>
              </a:rPr>
              <a:t>0.875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Macro Precision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95744" y="1005840"/>
            <a:ext cx="217627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5744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0.821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5744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Macro 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63456" y="1005840"/>
            <a:ext cx="2176272" cy="8686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63456" y="1005840"/>
            <a:ext cx="2176272" cy="457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3456" y="1115568"/>
            <a:ext cx="21762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4748B"/>
                </a:solidFill>
              </a:rPr>
              <a:t>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3456" y="1572768"/>
            <a:ext cx="21762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Persons
Evaluated</a:t>
            </a:r>
          </a:p>
        </p:txBody>
      </p:sp>
      <p:pic>
        <p:nvPicPr>
          <p:cNvPr id="25" name="Picture 24" descr="combined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011680"/>
            <a:ext cx="5303520" cy="4419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20040" y="548640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Confusion Matrix — All 17 Persons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2011680"/>
            <a:ext cx="5577840" cy="370332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2011680"/>
            <a:ext cx="557784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084831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Per-Class Classification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514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514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514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Recall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2514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F1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514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Support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62472" y="2816352"/>
            <a:ext cx="54406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852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NONE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2852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1.000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2852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852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0.667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285292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62472" y="3200400"/>
            <a:ext cx="5440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32369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2369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0.875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32369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1.000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32369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0.933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2369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62472" y="3584448"/>
            <a:ext cx="5440680" cy="34747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3621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MEDIUM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3621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0.750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621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1.000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3621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0.857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6210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62472" y="3968496"/>
            <a:ext cx="544068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005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HIGH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15200" y="4005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0.875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005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0.700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4005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0.778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400507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62472" y="4352544"/>
            <a:ext cx="5440680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17920" y="4389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macro avg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15200" y="4389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0.875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12480" y="4389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0.821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26880" y="4389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0.827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43891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D4ED8"/>
                </a:solidFill>
              </a:rPr>
              <a:t>17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035040" y="4800600"/>
            <a:ext cx="5577840" cy="868680"/>
          </a:xfrm>
          <a:prstGeom prst="rect">
            <a:avLst/>
          </a:prstGeom>
          <a:solidFill>
            <a:srgbClr val="DCFCE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35040" y="4800600"/>
            <a:ext cx="54864" cy="5577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864608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15 / 17 persons correctly classified
2 over-fired: OneStopMoveEnter P1 (MEDIUM→HIGH) and ShopAssistant P1 (NONE→LOW)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Key Learnings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Insights from building and evaluating the system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3749039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33856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Zone Design is the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9105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Accurate polygon zones directly determine feature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1168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Horizontal band zones failed on perspective corridor footage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43230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Manual zone drawing remains essential per camera 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24128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024128"/>
            <a:ext cx="3749039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1" y="1133856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Lightweight Models Can Compete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1" y="159105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YOLOv8n (nano) achieved robust detection with no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1" y="201168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Custom IoU tracker eliminated DeepSORT entirely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1" y="243230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Full pipeline runs at ~25 FPS on a standard laptop CPU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8" y="1024128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8" y="1024128"/>
            <a:ext cx="3749039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0" y="1133856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Hybrid Rules + Score Outperforms Pure Scoring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0" y="159105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Hard rules for billing bypass and revisit count guarantee HIGH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0" y="201168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Adaptive score handles nuanced between-threshold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0" y="243230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Dead-zone at score &lt; 0.05 eliminated false LOW alerts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02736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02736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71246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Grid Search Reveals Feature Importance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16966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Optimal weights: dwell and irregularity dominate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59028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Revisit count already captured by hard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50109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Confirms dwell time and path shape are most discriminative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602736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602736"/>
            <a:ext cx="3749039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1" y="371246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40AF"/>
                </a:solidFill>
              </a:rPr>
              <a:t>SHAP Provides Actionable Explainability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1" y="416966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Per-person waterfall charts show exactly why alert fired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1" y="459028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Mean |SHAP| shows dwell dominates risk across population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1" y="50109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Helps operators understand false positives without black-box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8" y="3602736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8" y="3602736"/>
            <a:ext cx="3749039" cy="54864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0" y="371246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Adaptive Calibration Is Valuable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0" y="416966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Thresholds derived from mean + 1.5σ of live population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0" y="459028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Avoids manual re-tuning when camera or store layout changes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0" y="50109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Falls back to fixed constants when &lt; 3 persons tracked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Project Shortcomings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Known limitations and directions for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24128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24128"/>
            <a:ext cx="3749039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133856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Zone Geometry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59105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Horizontal bands designed for top-down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1168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CAVIAR footage is perspective — zones misalign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243230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Per-camera zone redesign needed for generalisation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24128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59" y="1024128"/>
            <a:ext cx="3749039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1" y="1133856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D4ED8"/>
                </a:solidFill>
              </a:rPr>
              <a:t>No Learned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1" y="159105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All features hand-engineered; no deep feature 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1" y="201168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Cannot generalise to unseen layouts automatically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1" y="243230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Appearance-based re-ID would improve cross-occlusion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8" y="1024128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8" y="1024128"/>
            <a:ext cx="3749039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0" y="1133856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Small Evaluation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0" y="1591056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Only 17 persons across 7 videos evaluated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0" y="2011680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Not statistically significant for confident generalisation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0" y="243230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Ground truth aligned with system-detectable signals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602736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602736"/>
            <a:ext cx="3749039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371246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Single-Camera 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16966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One video feed processed at a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59028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Multi-camera handoff and re-ID not implemented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" y="50109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No real-time streaming — offline batch processing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3602736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3602736"/>
            <a:ext cx="3749039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1" y="371246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</a:rPr>
              <a:t>Trajectory Irregularity Heuristic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1" y="416966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Score based on direction-change frequency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1" y="459028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Sensitive to frame rate and detection jitter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1" y="50109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Cannot distinguish deliberate looping from browsing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8" y="3602736"/>
            <a:ext cx="3749039" cy="24231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83878" y="3602736"/>
            <a:ext cx="3749039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0" y="3712464"/>
            <a:ext cx="3520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No Action Recognition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0" y="4169664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Detects location patterns only, not specific gestures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0" y="459028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Concealment, running, or reaching are not detected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48470" y="50109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172A"/>
                </a:solidFill>
              </a:rPr>
              <a:t>•  Pose estimation integration would boost recall significantly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008"/>
            <a:ext cx="10515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APA 7th Edition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Fisher, R., Santos-Victor, J., &amp; Crowley, J. (2004). CAVIAR: Context aware vision using image-based active recognition [Dataset]. European Community IST Programme. http://homepages.inf.ed.ac.uk/rbf/CAVIAR/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112745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3736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Jocher, G., Chaurasia, A., &amp; Qiu, J. (2023). Ultralytics YOLOv8 (Version 8.0.0) [Computer software]. Ultralytics. https://github.com/ultralytics/ultralytics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68296"/>
            <a:ext cx="11274552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4144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Wojke, N., Bewley, A., &amp; Paulus, D. (2017). Simple online and realtime tracking with a deep association metric. In Proceedings of the IEEE International Conference on Image Processing (pp. 3645–3649). IEEE. https://doi.org/10.1109/ICIP.2017.8296962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72384"/>
            <a:ext cx="112745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Bewley, A., Ge, Z., Ott, L., Ramos, F., &amp; Upcroft, B. (2016). Simple online and realtime tracking. In Proceedings of the IEEE International Conference on Image Processing (pp. 3464–3468). IEEE. https://doi.org/10.1109/ICIP.2016.7533003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76472"/>
            <a:ext cx="11274552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849624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Redmon, J., Divvala, S., Girshick, R., &amp; Farhadi, A. (2016). You only look once: Unified, real-time object detection. In Proceedings of the IEEE Conference on Computer Vision and Pattern Recognition (pp. 779–788). IEEE. https://doi.org/10.1109/CVPR.2016.91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112745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553712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Lundberg, S. M., &amp; Lee, S.-I. (2017). A unified approach to interpreting model predictions. Advances in Neural Information Processing Systems, 30, 4765–4774. https://proceedings.neurips.cc/paper/2017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84648"/>
            <a:ext cx="11274552" cy="6400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25780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F172A"/>
                </a:solidFill>
              </a:rPr>
              <a:t>National Retail Federation. (2023). National retail security survey 2023. NRF. https://nrf.com/research/national-retail-security-survey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88952" cy="274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</a:rPr>
              <a:t>Group 19  |  Intelligent Retail Risk Monitoring  |  MSML640 Spring 2026  |  University of Maryland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40312" y="6400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